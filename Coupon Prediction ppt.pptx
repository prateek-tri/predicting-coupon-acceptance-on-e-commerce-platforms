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66" r:id="rId2"/>
    <p:sldId id="256" r:id="rId3"/>
    <p:sldId id="257" r:id="rId4"/>
    <p:sldId id="258" r:id="rId5"/>
    <p:sldId id="267" r:id="rId6"/>
    <p:sldId id="259" r:id="rId7"/>
    <p:sldId id="268" r:id="rId8"/>
    <p:sldId id="260" r:id="rId9"/>
    <p:sldId id="261" r:id="rId10"/>
    <p:sldId id="263" r:id="rId11"/>
    <p:sldId id="262" r:id="rId12"/>
    <p:sldId id="264" r:id="rId13"/>
    <p:sldId id="265" r:id="rId14"/>
  </p:sldIdLst>
  <p:sldSz cx="14630400" cy="8229600"/>
  <p:notesSz cx="8229600" cy="14630400"/>
  <p:embeddedFontLst>
    <p:embeddedFont>
      <p:font typeface="Martel Sans" panose="020B0604020202020204" charset="0"/>
      <p:regular r:id="rId16"/>
    </p:embeddedFont>
    <p:embeddedFont>
      <p:font typeface="Gadugi" panose="020B0502040204020203" pitchFamily="34" charset="0"/>
      <p:regular r:id="rId17"/>
      <p:bold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Kanit Light" panose="020B0604020202020204" charset="-34"/>
      <p:regular r:id="rId23"/>
    </p:embeddedFont>
    <p:embeddedFont>
      <p:font typeface="Algerian" panose="04020705040A02060702" pitchFamily="82" charset="0"/>
      <p:regular r:id="rId24"/>
    </p:embeddedFont>
    <p:embeddedFont>
      <p:font typeface="Georgia" panose="02040502050405020303" pitchFamily="18" charset="0"/>
      <p:regular r:id="rId25"/>
      <p:bold r:id="rId26"/>
      <p:italic r:id="rId27"/>
      <p:boldItalic r:id="rId28"/>
    </p:embeddedFont>
    <p:embeddedFont>
      <p:font typeface="Arial Black" panose="020B0A04020102020204" pitchFamily="34" charset="0"/>
      <p:bold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4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844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10.jpg"/><Relationship Id="rId7" Type="http://schemas.openxmlformats.org/officeDocument/2006/relationships/image" Target="../media/image14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10" Type="http://schemas.openxmlformats.org/officeDocument/2006/relationships/image" Target="../media/image17.jpg"/><Relationship Id="rId4" Type="http://schemas.openxmlformats.org/officeDocument/2006/relationships/image" Target="../media/image11.jpg"/><Relationship Id="rId9" Type="http://schemas.openxmlformats.org/officeDocument/2006/relationships/image" Target="../media/image16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5" r="11343" b="11041"/>
          <a:stretch/>
        </p:blipFill>
        <p:spPr>
          <a:xfrm>
            <a:off x="299259" y="351386"/>
            <a:ext cx="6550428" cy="73960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49687" y="2394065"/>
            <a:ext cx="7597832" cy="3203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8350"/>
              </a:lnSpc>
            </a:pPr>
            <a:r>
              <a:rPr lang="en-US" sz="4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Predicting Coupon Acceptance </a:t>
            </a:r>
            <a:r>
              <a:rPr lang="en-US" sz="4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on</a:t>
            </a:r>
          </a:p>
          <a:p>
            <a:pPr algn="ctr">
              <a:lnSpc>
                <a:spcPts val="8350"/>
              </a:lnSpc>
            </a:pPr>
            <a:r>
              <a:rPr lang="en-US" sz="4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 </a:t>
            </a:r>
            <a:r>
              <a:rPr lang="en-US" sz="4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E-commerce Platforms</a:t>
            </a:r>
            <a:endParaRPr lang="en-US" sz="4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17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2034" y="246515"/>
            <a:ext cx="13623009" cy="166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8350"/>
              </a:lnSpc>
            </a:pPr>
            <a:r>
              <a:rPr lang="en-US" sz="3200" dirty="0">
                <a:latin typeface="Arial Black"/>
              </a:rPr>
              <a:t>Predicting Coupon Acceptance on E-commerce Platforms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914399" y="4212918"/>
            <a:ext cx="13003077" cy="2312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350437" y="6628328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0058400" y="7056597"/>
            <a:ext cx="4504134" cy="43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endParaRPr lang="en-US" sz="2400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04434" y="1368889"/>
            <a:ext cx="7392410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goal of this project is to predict whether a customer will accept a coupon based on factors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demographics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time, and behavior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Statement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Businesses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coupons to attract customers, but not everyone redeems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customers are likely to accept a coupon can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businesses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the right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audience,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improving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marketing efficiency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Outcome: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explored the dataset, cleaned and prepared the data, and tested different machine learning models. 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evaluation, we identified the best model for predicting coupon acceptance. 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help businesses make better marketing decisions and increase customer engagement.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89"/>
          <a:stretch/>
        </p:blipFill>
        <p:spPr>
          <a:xfrm>
            <a:off x="8386504" y="2694530"/>
            <a:ext cx="5298878" cy="35819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64037" y="1289685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Overview</a:t>
            </a:r>
            <a:endParaRPr lang="en-US" sz="4850" dirty="0"/>
          </a:p>
        </p:txBody>
      </p:sp>
      <p:sp>
        <p:nvSpPr>
          <p:cNvPr id="5" name="Shape 1"/>
          <p:cNvSpPr/>
          <p:nvPr/>
        </p:nvSpPr>
        <p:spPr>
          <a:xfrm>
            <a:off x="864037" y="2709148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085374" y="2801660"/>
            <a:ext cx="112633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1666280" y="2709148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Dataset Size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1666280" y="3243024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US" sz="2000" dirty="0"/>
              <a:t>12,684 rows and 25 columns.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864037" y="4162544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47988" y="4255056"/>
            <a:ext cx="187404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2900" dirty="0"/>
          </a:p>
        </p:txBody>
      </p:sp>
      <p:sp>
        <p:nvSpPr>
          <p:cNvPr id="11" name="Text 7"/>
          <p:cNvSpPr/>
          <p:nvPr/>
        </p:nvSpPr>
        <p:spPr>
          <a:xfrm>
            <a:off x="1666280" y="4162544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1666280" y="4696420"/>
            <a:ext cx="661368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US" sz="2000" dirty="0" smtClean="0"/>
              <a:t>Coupon, Occupation, Income, Age, Bar, Passenger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864037" y="6010989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46559" y="6103501"/>
            <a:ext cx="190381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2900" dirty="0"/>
          </a:p>
        </p:txBody>
      </p:sp>
      <p:sp>
        <p:nvSpPr>
          <p:cNvPr id="15" name="Text 11"/>
          <p:cNvSpPr/>
          <p:nvPr/>
        </p:nvSpPr>
        <p:spPr>
          <a:xfrm>
            <a:off x="1666280" y="6010989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Target Variable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1666280" y="6544866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 smtClean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Accept(Y/N)?</a:t>
            </a:r>
            <a:endParaRPr lang="en-US" sz="19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8544" y="2584726"/>
            <a:ext cx="4718578" cy="25206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932438" y="360953"/>
            <a:ext cx="6016109" cy="751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900"/>
              </a:lnSpc>
              <a:buNone/>
            </a:pPr>
            <a:r>
              <a:rPr lang="en-US" sz="4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Preprocessing</a:t>
            </a:r>
            <a:endParaRPr lang="en-US" sz="4700" dirty="0"/>
          </a:p>
        </p:txBody>
      </p:sp>
      <p:sp>
        <p:nvSpPr>
          <p:cNvPr id="5" name="Shape 1"/>
          <p:cNvSpPr/>
          <p:nvPr/>
        </p:nvSpPr>
        <p:spPr>
          <a:xfrm>
            <a:off x="1187887" y="1774627"/>
            <a:ext cx="30480" cy="5795129"/>
          </a:xfrm>
          <a:prstGeom prst="roundRect">
            <a:avLst>
              <a:gd name="adj" fmla="val 331602"/>
            </a:avLst>
          </a:prstGeom>
          <a:solidFill>
            <a:srgbClr val="C5D2CF"/>
          </a:solidFill>
          <a:ln/>
        </p:spPr>
      </p:sp>
      <p:sp>
        <p:nvSpPr>
          <p:cNvPr id="6" name="Shape 2"/>
          <p:cNvSpPr/>
          <p:nvPr/>
        </p:nvSpPr>
        <p:spPr>
          <a:xfrm>
            <a:off x="1443335" y="2300645"/>
            <a:ext cx="842248" cy="30480"/>
          </a:xfrm>
          <a:prstGeom prst="roundRect">
            <a:avLst>
              <a:gd name="adj" fmla="val 331602"/>
            </a:avLst>
          </a:prstGeom>
          <a:solidFill>
            <a:srgbClr val="C5D2CF"/>
          </a:solidFill>
          <a:ln/>
        </p:spPr>
      </p:sp>
      <p:sp>
        <p:nvSpPr>
          <p:cNvPr id="7" name="Shape 3"/>
          <p:cNvSpPr/>
          <p:nvPr/>
        </p:nvSpPr>
        <p:spPr>
          <a:xfrm>
            <a:off x="932438" y="2045256"/>
            <a:ext cx="541377" cy="541377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48179" y="2135386"/>
            <a:ext cx="109776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2526625" y="2015252"/>
            <a:ext cx="3180159" cy="375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Handling Missing Values</a:t>
            </a:r>
            <a:endParaRPr lang="en-US" sz="2350" dirty="0"/>
          </a:p>
        </p:txBody>
      </p:sp>
      <p:sp>
        <p:nvSpPr>
          <p:cNvPr id="10" name="Text 6"/>
          <p:cNvSpPr/>
          <p:nvPr/>
        </p:nvSpPr>
        <p:spPr>
          <a:xfrm>
            <a:off x="2526625" y="2535436"/>
            <a:ext cx="5775127" cy="769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Used median imputation for numerical variables </a:t>
            </a:r>
            <a:r>
              <a:rPr lang="en-US" sz="1850" dirty="0" smtClean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and (Mode) </a:t>
            </a:r>
            <a:r>
              <a:rPr lang="en-US" sz="1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most frequent for categorical.</a:t>
            </a:r>
            <a:endParaRPr lang="en-US" sz="1850" dirty="0"/>
          </a:p>
        </p:txBody>
      </p:sp>
      <p:sp>
        <p:nvSpPr>
          <p:cNvPr id="11" name="Shape 7"/>
          <p:cNvSpPr/>
          <p:nvPr/>
        </p:nvSpPr>
        <p:spPr>
          <a:xfrm>
            <a:off x="1443335" y="4312563"/>
            <a:ext cx="842248" cy="30480"/>
          </a:xfrm>
          <a:prstGeom prst="roundRect">
            <a:avLst>
              <a:gd name="adj" fmla="val 331602"/>
            </a:avLst>
          </a:prstGeom>
          <a:solidFill>
            <a:srgbClr val="C5D2CF"/>
          </a:solidFill>
          <a:ln/>
        </p:spPr>
      </p:sp>
      <p:sp>
        <p:nvSpPr>
          <p:cNvPr id="12" name="Shape 8"/>
          <p:cNvSpPr/>
          <p:nvPr/>
        </p:nvSpPr>
        <p:spPr>
          <a:xfrm>
            <a:off x="932438" y="4057174"/>
            <a:ext cx="541377" cy="541377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111746" y="4147304"/>
            <a:ext cx="182642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2526625" y="4027170"/>
            <a:ext cx="3007995" cy="375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Outlier Treatment</a:t>
            </a:r>
            <a:endParaRPr lang="en-US" sz="2350" dirty="0"/>
          </a:p>
        </p:txBody>
      </p:sp>
      <p:sp>
        <p:nvSpPr>
          <p:cNvPr id="15" name="Text 11"/>
          <p:cNvSpPr/>
          <p:nvPr/>
        </p:nvSpPr>
        <p:spPr>
          <a:xfrm>
            <a:off x="2526625" y="4547354"/>
            <a:ext cx="5775127" cy="769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 smtClean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Applied IQR based capping to reduce impact of extreme values.</a:t>
            </a:r>
            <a:endParaRPr lang="en-US" sz="1850" dirty="0"/>
          </a:p>
        </p:txBody>
      </p:sp>
      <p:sp>
        <p:nvSpPr>
          <p:cNvPr id="16" name="Shape 12"/>
          <p:cNvSpPr/>
          <p:nvPr/>
        </p:nvSpPr>
        <p:spPr>
          <a:xfrm>
            <a:off x="1443335" y="6324481"/>
            <a:ext cx="842248" cy="30480"/>
          </a:xfrm>
          <a:prstGeom prst="roundRect">
            <a:avLst>
              <a:gd name="adj" fmla="val 331602"/>
            </a:avLst>
          </a:prstGeom>
          <a:solidFill>
            <a:srgbClr val="C5D2CF"/>
          </a:solidFill>
          <a:ln/>
        </p:spPr>
      </p:sp>
      <p:sp>
        <p:nvSpPr>
          <p:cNvPr id="17" name="Shape 13"/>
          <p:cNvSpPr/>
          <p:nvPr/>
        </p:nvSpPr>
        <p:spPr>
          <a:xfrm>
            <a:off x="932438" y="6069092"/>
            <a:ext cx="541377" cy="541377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110317" y="6159222"/>
            <a:ext cx="185499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2526625" y="6039088"/>
            <a:ext cx="3007995" cy="375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Feature Scaling</a:t>
            </a:r>
            <a:endParaRPr lang="en-US" sz="2350" dirty="0"/>
          </a:p>
        </p:txBody>
      </p:sp>
      <p:sp>
        <p:nvSpPr>
          <p:cNvPr id="20" name="Text 16"/>
          <p:cNvSpPr/>
          <p:nvPr/>
        </p:nvSpPr>
        <p:spPr>
          <a:xfrm>
            <a:off x="2526625" y="6559272"/>
            <a:ext cx="5775127" cy="769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1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Standardized numerical features using StandardScaler to ensure consistent scale across variables.</a:t>
            </a:r>
            <a:endParaRPr lang="en-US" sz="185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357" y="1050920"/>
            <a:ext cx="6325148" cy="3261643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4"/>
          <a:srcRect l="827"/>
          <a:stretch/>
        </p:blipFill>
        <p:spPr>
          <a:xfrm>
            <a:off x="8016192" y="4547354"/>
            <a:ext cx="6295478" cy="32768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33800" y="0"/>
            <a:ext cx="7277101" cy="874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50"/>
              </a:lnSpc>
            </a:pPr>
            <a:r>
              <a:rPr lang="en-US" sz="4800" b="1" dirty="0">
                <a:solidFill>
                  <a:srgbClr val="272D45"/>
                </a:solidFill>
                <a:latin typeface="Kanit Light" panose="020B0604020202020204" charset="-34"/>
                <a:ea typeface="Kanit Light" pitchFamily="34" charset="-122"/>
                <a:cs typeface="Kanit Light" panose="020B0604020202020204" charset="-34"/>
              </a:rPr>
              <a:t>Exploratory Data Analysis</a:t>
            </a:r>
            <a:endParaRPr lang="en-US" sz="4800" b="1" dirty="0">
              <a:latin typeface="Kanit Light" panose="020B0604020202020204" charset="-34"/>
              <a:cs typeface="Kanit Light" panose="020B0604020202020204" charset="-3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349" y="1685848"/>
            <a:ext cx="8901132" cy="597461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8761" y="1223927"/>
            <a:ext cx="3600922" cy="4619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3000"/>
              </a:lnSpc>
            </a:pPr>
            <a:r>
              <a:rPr lang="en-US" sz="2400" b="1" dirty="0">
                <a:solidFill>
                  <a:srgbClr val="2C3249"/>
                </a:solidFill>
                <a:latin typeface="Arial Black" panose="020B0A04020102020204" pitchFamily="34" charset="0"/>
                <a:ea typeface="Kanit Light" pitchFamily="34" charset="-122"/>
                <a:cs typeface="Kanit Light" pitchFamily="34" charset="-120"/>
              </a:rPr>
              <a:t>Correlation Analysis</a:t>
            </a:r>
            <a:endParaRPr lang="en-US" sz="2400" b="1" dirty="0">
              <a:latin typeface="Arial Black" panose="020B0A040201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8761" y="1952212"/>
            <a:ext cx="4210050" cy="1284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100"/>
              </a:lnSpc>
            </a:pPr>
            <a:r>
              <a:rPr lang="en-US" sz="2400" dirty="0" err="1">
                <a:ea typeface="Martel Sans" pitchFamily="34" charset="-122"/>
                <a:cs typeface="Martel Sans" pitchFamily="34" charset="-120"/>
              </a:rPr>
              <a:t>Heatmap</a:t>
            </a:r>
            <a:r>
              <a:rPr lang="en-US" sz="2400" dirty="0">
                <a:ea typeface="Martel Sans" pitchFamily="34" charset="-122"/>
                <a:cs typeface="Martel Sans" pitchFamily="34" charset="-120"/>
              </a:rPr>
              <a:t> revealed </a:t>
            </a:r>
            <a:r>
              <a:rPr lang="en-US" sz="2400" dirty="0" smtClean="0">
                <a:ea typeface="Martel Sans" pitchFamily="34" charset="-122"/>
                <a:cs typeface="Martel Sans" pitchFamily="34" charset="-120"/>
              </a:rPr>
              <a:t>relationships</a:t>
            </a:r>
          </a:p>
          <a:p>
            <a:pPr>
              <a:lnSpc>
                <a:spcPts val="3100"/>
              </a:lnSpc>
            </a:pPr>
            <a:r>
              <a:rPr lang="en-US" sz="2400" dirty="0" smtClean="0">
                <a:ea typeface="Martel Sans" pitchFamily="34" charset="-122"/>
                <a:cs typeface="Martel Sans" pitchFamily="34" charset="-120"/>
              </a:rPr>
              <a:t>between </a:t>
            </a:r>
            <a:r>
              <a:rPr lang="en-US" sz="2400" dirty="0">
                <a:ea typeface="Martel Sans" pitchFamily="34" charset="-122"/>
                <a:cs typeface="Martel Sans" pitchFamily="34" charset="-120"/>
              </a:rPr>
              <a:t>variables, </a:t>
            </a:r>
            <a:endParaRPr lang="en-US" sz="2400" dirty="0" smtClean="0">
              <a:ea typeface="Martel Sans" pitchFamily="34" charset="-122"/>
              <a:cs typeface="Martel Sans" pitchFamily="34" charset="-120"/>
            </a:endParaRPr>
          </a:p>
          <a:p>
            <a:pPr>
              <a:lnSpc>
                <a:spcPts val="3100"/>
              </a:lnSpc>
            </a:pPr>
            <a:r>
              <a:rPr lang="en-US" sz="2400" dirty="0" smtClean="0">
                <a:ea typeface="Martel Sans" pitchFamily="34" charset="-122"/>
                <a:cs typeface="Martel Sans" pitchFamily="34" charset="-120"/>
              </a:rPr>
              <a:t>guiding </a:t>
            </a:r>
            <a:r>
              <a:rPr lang="en-US" sz="2400" dirty="0">
                <a:ea typeface="Martel Sans" pitchFamily="34" charset="-122"/>
                <a:cs typeface="Martel Sans" pitchFamily="34" charset="-120"/>
              </a:rPr>
              <a:t>feature selection.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339410" y="3770274"/>
            <a:ext cx="428940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What it Shows:</a:t>
            </a:r>
            <a:r>
              <a:rPr lang="en-US" sz="2400" dirty="0"/>
              <a:t> Correlation between features (how they relate to each other).</a:t>
            </a:r>
            <a:br>
              <a:rPr lang="en-US" sz="2400" dirty="0"/>
            </a:br>
            <a:r>
              <a:rPr lang="en-US" sz="2400" b="1" dirty="0" smtClean="0"/>
              <a:t>Red </a:t>
            </a:r>
            <a:r>
              <a:rPr lang="en-US" sz="2400" b="1" dirty="0"/>
              <a:t>(Close to 1):</a:t>
            </a:r>
            <a:r>
              <a:rPr lang="en-US" sz="2400" dirty="0"/>
              <a:t> Strong positive correlation (e.g., age &amp; having children).</a:t>
            </a:r>
            <a:br>
              <a:rPr lang="en-US" sz="2400" dirty="0"/>
            </a:br>
            <a:r>
              <a:rPr lang="en-US" sz="2400" b="1" dirty="0" smtClean="0"/>
              <a:t>Blue </a:t>
            </a:r>
            <a:r>
              <a:rPr lang="en-US" sz="2400" b="1" dirty="0"/>
              <a:t>(Close to -1):</a:t>
            </a:r>
            <a:r>
              <a:rPr lang="en-US" sz="2400" dirty="0"/>
              <a:t> Strong negative correlation.</a:t>
            </a:r>
            <a:br>
              <a:rPr lang="en-US" sz="2400" dirty="0"/>
            </a:br>
            <a:r>
              <a:rPr lang="en-US" sz="2400" b="1" dirty="0" smtClean="0"/>
              <a:t>Near </a:t>
            </a:r>
            <a:r>
              <a:rPr lang="en-US" sz="2400" b="1" dirty="0"/>
              <a:t>0:</a:t>
            </a:r>
            <a:r>
              <a:rPr lang="en-US" sz="2400" dirty="0"/>
              <a:t> No correlation (most features are independent).</a:t>
            </a:r>
          </a:p>
        </p:txBody>
      </p:sp>
    </p:spTree>
    <p:extLst>
      <p:ext uri="{BB962C8B-B14F-4D97-AF65-F5344CB8AC3E}">
        <p14:creationId xmlns:p14="http://schemas.microsoft.com/office/powerpoint/2010/main" val="1212764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98083" y="233225"/>
            <a:ext cx="6999327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Exploratory Data Analysis</a:t>
            </a:r>
            <a:endParaRPr lang="en-US" sz="4850" b="1" dirty="0"/>
          </a:p>
        </p:txBody>
      </p:sp>
      <p:sp>
        <p:nvSpPr>
          <p:cNvPr id="4" name="Text 1"/>
          <p:cNvSpPr/>
          <p:nvPr/>
        </p:nvSpPr>
        <p:spPr>
          <a:xfrm>
            <a:off x="864037" y="5294948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64037" y="5828824"/>
            <a:ext cx="4053840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5137492" y="1200850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2C3249"/>
                </a:solidFill>
                <a:latin typeface="Georgia" panose="02040502050405020303" pitchFamily="18" charset="0"/>
                <a:ea typeface="Kanit Light" pitchFamily="34" charset="-122"/>
                <a:cs typeface="Kanit Light" pitchFamily="34" charset="-120"/>
              </a:rPr>
              <a:t>Distribution Plots</a:t>
            </a:r>
            <a:endParaRPr lang="en-US" sz="2400" b="1" dirty="0">
              <a:latin typeface="Georgia" panose="02040502050405020303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3516511" y="6880505"/>
            <a:ext cx="8934450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2800" dirty="0"/>
          </a:p>
        </p:txBody>
      </p:sp>
      <p:sp>
        <p:nvSpPr>
          <p:cNvPr id="10" name="Text 5"/>
          <p:cNvSpPr/>
          <p:nvPr/>
        </p:nvSpPr>
        <p:spPr>
          <a:xfrm>
            <a:off x="9712404" y="5294948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9712404" y="5828824"/>
            <a:ext cx="4053840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43" y="1986444"/>
            <a:ext cx="4899130" cy="349428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7363" y="1850862"/>
            <a:ext cx="5120572" cy="3629867"/>
          </a:xfrm>
          <a:prstGeom prst="rect">
            <a:avLst/>
          </a:prstGeom>
        </p:spPr>
      </p:pic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161243" y="5854961"/>
            <a:ext cx="635462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X-axis (coupon):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Different coupon categories (0, 1, 2, 3, 4).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Y-axis (Frequency):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How often each coupon type appears.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 Frequency: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Coupon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has the most occurrences (~4000).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 Peaks: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Coupons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1, 4, and 0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also appear frequently.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Lowest Frequency: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Coupon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least common.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Blue Line (KDE Curve):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Shows the smooth trend of distribution. </a:t>
            </a:r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7218662" y="5831148"/>
            <a:ext cx="718536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X-axis (Age):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Different age groups (0 to 7).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Y-axis (Frequency):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Number of people in each age group.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Common Ages: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Categories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 and 1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have the highest count (~2500+).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 Peaks: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 groups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2, 3, and 6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also have notable frequencies.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Least Common Ages: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Groups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and 7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have the lowest count.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Green Line (KDE Curve):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Shows the trend of age distribution.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9" y="712788"/>
            <a:ext cx="2670721" cy="207401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410" y="638074"/>
            <a:ext cx="2750902" cy="206356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8311" y="708431"/>
            <a:ext cx="3133999" cy="19100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6219" y="638073"/>
            <a:ext cx="2707859" cy="19804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9" y="3474587"/>
            <a:ext cx="2908339" cy="201378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558" y="3598276"/>
            <a:ext cx="3282177" cy="192097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3502" y="3536574"/>
            <a:ext cx="2692085" cy="204438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0169" y="508691"/>
            <a:ext cx="3199890" cy="210981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735" y="3336612"/>
            <a:ext cx="3569774" cy="244430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87952" y="31637"/>
            <a:ext cx="2186817" cy="4521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3000"/>
              </a:lnSpc>
            </a:pPr>
            <a:r>
              <a:rPr lang="en-US" sz="2400" b="1" dirty="0">
                <a:solidFill>
                  <a:srgbClr val="2C3249"/>
                </a:solidFill>
                <a:latin typeface="Georgia" panose="02040502050405020303" pitchFamily="18" charset="0"/>
                <a:ea typeface="Kanit Light" pitchFamily="34" charset="-122"/>
                <a:cs typeface="Kanit Light" pitchFamily="34" charset="-120"/>
              </a:rPr>
              <a:t>Scatter Plots</a:t>
            </a:r>
            <a:endParaRPr lang="en-US" sz="2400" b="1" dirty="0">
              <a:latin typeface="Georgia" panose="02040502050405020303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92282" y="5918491"/>
            <a:ext cx="1120139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The scatter plots examine the relationship between features (e.g., temperature, destination, gender) and coupon acceptance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No </a:t>
            </a:r>
            <a:r>
              <a:rPr lang="en-US" dirty="0"/>
              <a:t>clear trends or strong correlations are observed in any plot.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Individual </a:t>
            </a:r>
            <a:r>
              <a:rPr lang="en-US" dirty="0"/>
              <a:t>features like weather, expiration, or education have minimal impact on coupon acceptance.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Advanced </a:t>
            </a:r>
            <a:r>
              <a:rPr lang="en-US" dirty="0"/>
              <a:t>analysis, such as combining features or using machine learning, is needed to identify meaningful patterns.</a:t>
            </a:r>
          </a:p>
        </p:txBody>
      </p:sp>
    </p:spTree>
    <p:extLst>
      <p:ext uri="{BB962C8B-B14F-4D97-AF65-F5344CB8AC3E}">
        <p14:creationId xmlns:p14="http://schemas.microsoft.com/office/powerpoint/2010/main" val="3700988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3709" y="405484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Model Selection</a:t>
            </a:r>
            <a:endParaRPr lang="en-US" sz="4850" b="1" dirty="0"/>
          </a:p>
        </p:txBody>
      </p:sp>
      <p:sp>
        <p:nvSpPr>
          <p:cNvPr id="3" name="Text 1"/>
          <p:cNvSpPr/>
          <p:nvPr/>
        </p:nvSpPr>
        <p:spPr>
          <a:xfrm>
            <a:off x="323709" y="1773326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dirty="0" smtClean="0">
                <a:solidFill>
                  <a:srgbClr val="272D45"/>
                </a:solidFill>
                <a:latin typeface="Gadugi" panose="020B0502040204020203" pitchFamily="34" charset="0"/>
                <a:ea typeface="Gadugi" panose="020B0502040204020203" pitchFamily="34" charset="0"/>
                <a:cs typeface="Kanit Light" pitchFamily="34" charset="-120"/>
              </a:rPr>
              <a:t>Classification  </a:t>
            </a:r>
            <a:r>
              <a:rPr lang="en-US" sz="2400" b="1" dirty="0">
                <a:solidFill>
                  <a:srgbClr val="272D45"/>
                </a:solidFill>
                <a:latin typeface="Gadugi" panose="020B0502040204020203" pitchFamily="34" charset="0"/>
                <a:ea typeface="Gadugi" panose="020B0502040204020203" pitchFamily="34" charset="0"/>
                <a:cs typeface="Kanit Light" pitchFamily="34" charset="-120"/>
              </a:rPr>
              <a:t>Models</a:t>
            </a:r>
            <a:endParaRPr lang="en-US" sz="2400" b="1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3709" y="2313071"/>
            <a:ext cx="3898821" cy="2747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US" sz="2400" dirty="0"/>
              <a:t>Logistic Regression, Random Forest, </a:t>
            </a:r>
            <a:r>
              <a:rPr lang="en-US" sz="2400" dirty="0" err="1" smtClean="0"/>
              <a:t>XGBoost</a:t>
            </a:r>
            <a:r>
              <a:rPr lang="en-US" sz="2400" dirty="0"/>
              <a:t>, </a:t>
            </a:r>
            <a:r>
              <a:rPr lang="en-US" sz="2400" dirty="0" smtClean="0"/>
              <a:t>Gradient Boosting </a:t>
            </a:r>
            <a:r>
              <a:rPr lang="en-US" sz="2400" dirty="0" err="1" smtClean="0"/>
              <a:t>AdaBoost</a:t>
            </a:r>
            <a:r>
              <a:rPr lang="en-US" sz="2400" dirty="0" smtClean="0"/>
              <a:t>, Ridge Classifier,    Perceptron, SVC, </a:t>
            </a:r>
            <a:r>
              <a:rPr lang="en-US" sz="2400" dirty="0" err="1" smtClean="0"/>
              <a:t>LinearSVC</a:t>
            </a:r>
            <a:r>
              <a:rPr lang="en-US" sz="2400" dirty="0" smtClean="0"/>
              <a:t>, K-Neighbors, Gaussian </a:t>
            </a:r>
            <a:r>
              <a:rPr lang="en-US" sz="2400" dirty="0"/>
              <a:t>Naive </a:t>
            </a:r>
            <a:r>
              <a:rPr lang="en-US" sz="2400" dirty="0" smtClean="0"/>
              <a:t>Bayes,    Bernoulli </a:t>
            </a:r>
            <a:r>
              <a:rPr lang="en-US" sz="2400" dirty="0"/>
              <a:t>Naive </a:t>
            </a:r>
            <a:r>
              <a:rPr lang="en-US" sz="2400" dirty="0" smtClean="0"/>
              <a:t>Bayes, Decision Tree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33704" y="1773326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dirty="0" err="1" smtClean="0">
                <a:latin typeface="Gadugi" panose="020B0502040204020203" pitchFamily="34" charset="0"/>
                <a:ea typeface="Gadugi" panose="020B0502040204020203" pitchFamily="34" charset="0"/>
              </a:rPr>
              <a:t>Spliting</a:t>
            </a:r>
            <a:r>
              <a:rPr lang="en-US" sz="2400" b="1" dirty="0" smtClean="0">
                <a:latin typeface="Gadugi" panose="020B0502040204020203" pitchFamily="34" charset="0"/>
                <a:ea typeface="Gadugi" panose="020B0502040204020203" pitchFamily="34" charset="0"/>
              </a:rPr>
              <a:t> Data</a:t>
            </a:r>
            <a:endParaRPr lang="en-US" sz="2400" b="1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102531" y="2345748"/>
            <a:ext cx="3898821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756663" y="1773326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dirty="0" smtClean="0">
                <a:solidFill>
                  <a:srgbClr val="272D45"/>
                </a:solidFill>
                <a:latin typeface="Gadugi" panose="020B0502040204020203" pitchFamily="34" charset="0"/>
                <a:ea typeface="Gadugi" panose="020B0502040204020203" pitchFamily="34" charset="0"/>
                <a:cs typeface="Kanit Light" pitchFamily="34" charset="-120"/>
              </a:rPr>
              <a:t>Optimization</a:t>
            </a:r>
            <a:endParaRPr lang="en-US" sz="2400" b="1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756663" y="2415983"/>
            <a:ext cx="3898821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US" sz="2400" dirty="0" err="1" smtClean="0">
                <a:ea typeface="Martel Sans" pitchFamily="34" charset="-122"/>
                <a:cs typeface="Martel Sans" pitchFamily="34" charset="-120"/>
              </a:rPr>
              <a:t>XGBoost</a:t>
            </a:r>
            <a:r>
              <a:rPr lang="en-US" sz="2400" dirty="0" smtClean="0">
                <a:ea typeface="Martel Sans" pitchFamily="34" charset="-122"/>
                <a:cs typeface="Martel Sans" pitchFamily="34" charset="-120"/>
              </a:rPr>
              <a:t> </a:t>
            </a:r>
            <a:r>
              <a:rPr lang="en-US" sz="2400" dirty="0">
                <a:ea typeface="Martel Sans" pitchFamily="34" charset="-122"/>
                <a:cs typeface="Martel Sans" pitchFamily="34" charset="-120"/>
              </a:rPr>
              <a:t>enhances accuracy with boosting, handling missing values, and feature importance. </a:t>
            </a:r>
            <a:r>
              <a:rPr lang="en-US" sz="2400" dirty="0" smtClean="0">
                <a:ea typeface="Martel Sans" pitchFamily="34" charset="-122"/>
                <a:cs typeface="Martel Sans" pitchFamily="34" charset="-120"/>
              </a:rPr>
              <a:t>Cross-validation </a:t>
            </a:r>
            <a:r>
              <a:rPr lang="en-US" sz="2400" dirty="0">
                <a:ea typeface="Martel Sans" pitchFamily="34" charset="-122"/>
                <a:cs typeface="Martel Sans" pitchFamily="34" charset="-120"/>
              </a:rPr>
              <a:t>(CV</a:t>
            </a:r>
            <a:r>
              <a:rPr lang="en-US" sz="2400" dirty="0" smtClean="0">
                <a:ea typeface="Martel Sans" pitchFamily="34" charset="-122"/>
                <a:cs typeface="Martel Sans" pitchFamily="34" charset="-120"/>
              </a:rPr>
              <a:t>) </a:t>
            </a:r>
            <a:r>
              <a:rPr lang="en-US" sz="2400" dirty="0">
                <a:ea typeface="Martel Sans" pitchFamily="34" charset="-122"/>
                <a:cs typeface="Martel Sans" pitchFamily="34" charset="-120"/>
              </a:rPr>
              <a:t>ensures stability by averaging scores across K-folds, preventing </a:t>
            </a:r>
            <a:r>
              <a:rPr lang="en-US" sz="2400" dirty="0" err="1">
                <a:ea typeface="Martel Sans" pitchFamily="34" charset="-122"/>
                <a:cs typeface="Martel Sans" pitchFamily="34" charset="-120"/>
              </a:rPr>
              <a:t>overfitting</a:t>
            </a:r>
            <a:r>
              <a:rPr lang="en-US" sz="2400" dirty="0">
                <a:ea typeface="Martel Sans" pitchFamily="34" charset="-122"/>
                <a:cs typeface="Martel Sans" pitchFamily="34" charset="-120"/>
              </a:rPr>
              <a:t> and optimizing </a:t>
            </a:r>
            <a:r>
              <a:rPr lang="en-US" sz="2400" dirty="0" err="1">
                <a:ea typeface="Martel Sans" pitchFamily="34" charset="-122"/>
                <a:cs typeface="Martel Sans" pitchFamily="34" charset="-120"/>
              </a:rPr>
              <a:t>hyperparameters</a:t>
            </a:r>
            <a:r>
              <a:rPr lang="en-US" sz="2800" dirty="0">
                <a:ea typeface="Martel Sans" pitchFamily="34" charset="-122"/>
                <a:cs typeface="Martel Sans" pitchFamily="34" charset="-120"/>
              </a:rPr>
              <a:t>.</a:t>
            </a:r>
            <a:endParaRPr lang="en-US" sz="2800" dirty="0"/>
          </a:p>
        </p:txBody>
      </p:sp>
      <p:sp>
        <p:nvSpPr>
          <p:cNvPr id="10" name="Rectangle 9"/>
          <p:cNvSpPr/>
          <p:nvPr/>
        </p:nvSpPr>
        <p:spPr>
          <a:xfrm>
            <a:off x="4635785" y="2404498"/>
            <a:ext cx="436245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 smtClean="0"/>
              <a:t> </a:t>
            </a:r>
            <a:r>
              <a:rPr lang="en-US" sz="2400" dirty="0" smtClean="0"/>
              <a:t>Divides </a:t>
            </a:r>
            <a:r>
              <a:rPr lang="en-US" sz="2400" dirty="0"/>
              <a:t>the dataset into two parts</a:t>
            </a:r>
            <a:r>
              <a:rPr lang="en-US" sz="2400" dirty="0" smtClean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 smtClean="0"/>
              <a:t> Training </a:t>
            </a:r>
            <a:r>
              <a:rPr lang="en-US" sz="2400" b="1" dirty="0"/>
              <a:t>set</a:t>
            </a:r>
            <a:r>
              <a:rPr lang="en-US" sz="2400" dirty="0"/>
              <a:t> → Used to train the </a:t>
            </a:r>
            <a:r>
              <a:rPr lang="en-US" sz="2400" dirty="0" smtClean="0"/>
              <a:t>    model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 smtClean="0"/>
              <a:t> Test </a:t>
            </a:r>
            <a:r>
              <a:rPr lang="en-US" sz="2400" b="1" dirty="0"/>
              <a:t>set</a:t>
            </a:r>
            <a:r>
              <a:rPr lang="en-US" sz="2400" dirty="0"/>
              <a:t> → Used to evaluate the model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b="1" dirty="0"/>
              <a:t>Cross-Validation (CV)</a:t>
            </a:r>
          </a:p>
          <a:p>
            <a:r>
              <a:rPr lang="en-US" sz="2400" dirty="0"/>
              <a:t>Divides data into multiple parts (folds) and trains the model multiple </a:t>
            </a:r>
            <a:r>
              <a:rPr lang="en-US" sz="2400" dirty="0" smtClean="0"/>
              <a:t>times.</a:t>
            </a:r>
          </a:p>
          <a:p>
            <a:r>
              <a:rPr lang="en-US" sz="2400" dirty="0" smtClean="0"/>
              <a:t>Each </a:t>
            </a:r>
            <a:r>
              <a:rPr lang="en-US" sz="2400" dirty="0"/>
              <a:t>fold acts as a test set once and as a training set the rest of the time.</a:t>
            </a:r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108948"/>
            <a:ext cx="815971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Model Training and Evaluation</a:t>
            </a:r>
            <a:endParaRPr lang="en-US" sz="4850" dirty="0"/>
          </a:p>
        </p:txBody>
      </p:sp>
      <p:sp>
        <p:nvSpPr>
          <p:cNvPr id="3" name="Shape 1"/>
          <p:cNvSpPr/>
          <p:nvPr/>
        </p:nvSpPr>
        <p:spPr>
          <a:xfrm>
            <a:off x="864037" y="4685705"/>
            <a:ext cx="12902327" cy="30480"/>
          </a:xfrm>
          <a:prstGeom prst="roundRect">
            <a:avLst>
              <a:gd name="adj" fmla="val 340200"/>
            </a:avLst>
          </a:prstGeom>
          <a:solidFill>
            <a:srgbClr val="C5D2CF"/>
          </a:solidFill>
          <a:ln/>
        </p:spPr>
      </p:sp>
      <p:sp>
        <p:nvSpPr>
          <p:cNvPr id="4" name="Shape 2"/>
          <p:cNvSpPr/>
          <p:nvPr/>
        </p:nvSpPr>
        <p:spPr>
          <a:xfrm>
            <a:off x="4012525" y="3821728"/>
            <a:ext cx="30480" cy="864037"/>
          </a:xfrm>
          <a:prstGeom prst="roundRect">
            <a:avLst>
              <a:gd name="adj" fmla="val 340200"/>
            </a:avLst>
          </a:prstGeom>
          <a:solidFill>
            <a:srgbClr val="C5D2CF"/>
          </a:solidFill>
          <a:ln/>
        </p:spPr>
      </p:sp>
      <p:sp>
        <p:nvSpPr>
          <p:cNvPr id="5" name="Shape 3"/>
          <p:cNvSpPr/>
          <p:nvPr/>
        </p:nvSpPr>
        <p:spPr>
          <a:xfrm>
            <a:off x="3750112" y="4407991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71449" y="4500503"/>
            <a:ext cx="112633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2484834" y="2250758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Splitting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10853" y="2784634"/>
            <a:ext cx="5834063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80% training, 20% testing split for model evaluation.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299722" y="4685645"/>
            <a:ext cx="30480" cy="864037"/>
          </a:xfrm>
          <a:prstGeom prst="roundRect">
            <a:avLst>
              <a:gd name="adj" fmla="val 340200"/>
            </a:avLst>
          </a:prstGeom>
          <a:solidFill>
            <a:srgbClr val="C5D2CF"/>
          </a:solidFill>
          <a:ln/>
        </p:spPr>
      </p:sp>
      <p:sp>
        <p:nvSpPr>
          <p:cNvPr id="10" name="Shape 8"/>
          <p:cNvSpPr/>
          <p:nvPr/>
        </p:nvSpPr>
        <p:spPr>
          <a:xfrm>
            <a:off x="7037308" y="4407991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1260" y="4500503"/>
            <a:ext cx="187404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5701546" y="5796677"/>
            <a:ext cx="3227189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dirty="0" smtClean="0">
                <a:solidFill>
                  <a:srgbClr val="2C3249"/>
                </a:solidFill>
                <a:latin typeface="Kanit Light" pitchFamily="34" charset="0"/>
                <a:cs typeface="Kanit Light" pitchFamily="34" charset="-120"/>
              </a:rPr>
              <a:t>Cross Validation on all models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398050" y="6330553"/>
            <a:ext cx="583418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587038" y="3821728"/>
            <a:ext cx="30480" cy="864037"/>
          </a:xfrm>
          <a:prstGeom prst="roundRect">
            <a:avLst>
              <a:gd name="adj" fmla="val 340200"/>
            </a:avLst>
          </a:prstGeom>
          <a:solidFill>
            <a:srgbClr val="C5D2CF"/>
          </a:solidFill>
          <a:ln/>
        </p:spPr>
      </p:sp>
      <p:sp>
        <p:nvSpPr>
          <p:cNvPr id="15" name="Shape 13"/>
          <p:cNvSpPr/>
          <p:nvPr/>
        </p:nvSpPr>
        <p:spPr>
          <a:xfrm>
            <a:off x="10324624" y="4407991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07147" y="4500503"/>
            <a:ext cx="190381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9059347" y="2250758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Performance Metrics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685365" y="2784634"/>
            <a:ext cx="583418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100"/>
              </a:lnSpc>
            </a:pPr>
            <a:r>
              <a:rPr lang="en-US" sz="2000" dirty="0"/>
              <a:t>Compare models using accuracy, precision, recall, F1-score, and AUC-ROC.</a:t>
            </a:r>
            <a:endParaRPr lang="en-US" sz="1900" dirty="0"/>
          </a:p>
        </p:txBody>
      </p: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4750258" y="6409801"/>
            <a:ext cx="61297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Multiple models are tested using 10-fold cross-validation.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Each model is trained &amp; tested 10 times on different data splits.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Mean accuracy is calculated for fair com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880824" y="708183"/>
            <a:ext cx="4414004" cy="551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300"/>
              </a:lnSpc>
              <a:buNone/>
            </a:pPr>
            <a:r>
              <a:rPr lang="en-US" sz="3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Feature Importance</a:t>
            </a:r>
            <a:endParaRPr lang="en-US" sz="345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824" y="1524595"/>
            <a:ext cx="882729" cy="141243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028349" y="1701046"/>
            <a:ext cx="2206943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 smtClean="0">
                <a:solidFill>
                  <a:srgbClr val="2C3249"/>
                </a:solidFill>
                <a:latin typeface="Kanit Light" pitchFamily="34" charset="0"/>
                <a:cs typeface="Kanit Light" pitchFamily="34" charset="-120"/>
              </a:rPr>
              <a:t>Coupon</a:t>
            </a:r>
            <a:endParaRPr lang="en-US" sz="1700" dirty="0"/>
          </a:p>
        </p:txBody>
      </p:sp>
      <p:sp>
        <p:nvSpPr>
          <p:cNvPr id="7" name="Text 2"/>
          <p:cNvSpPr/>
          <p:nvPr/>
        </p:nvSpPr>
        <p:spPr>
          <a:xfrm>
            <a:off x="2028349" y="2082760"/>
            <a:ext cx="12247007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Most important feature with </a:t>
            </a:r>
            <a:r>
              <a:rPr lang="en-US" sz="1350" dirty="0" smtClean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importance </a:t>
            </a:r>
            <a:r>
              <a:rPr lang="en-US" sz="1350" dirty="0" smtClean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11%.</a:t>
            </a:r>
            <a:endParaRPr lang="en-US" sz="13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824" y="2937033"/>
            <a:ext cx="882729" cy="141243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028349" y="3113484"/>
            <a:ext cx="2206943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 smtClean="0">
                <a:solidFill>
                  <a:srgbClr val="2C3249"/>
                </a:solidFill>
                <a:latin typeface="Kanit Light" pitchFamily="34" charset="0"/>
                <a:cs typeface="Kanit Light" pitchFamily="34" charset="-120"/>
              </a:rPr>
              <a:t>Occupation</a:t>
            </a:r>
            <a:endParaRPr lang="en-US" sz="1700" dirty="0"/>
          </a:p>
        </p:txBody>
      </p:sp>
      <p:sp>
        <p:nvSpPr>
          <p:cNvPr id="10" name="Text 4"/>
          <p:cNvSpPr/>
          <p:nvPr/>
        </p:nvSpPr>
        <p:spPr>
          <a:xfrm>
            <a:off x="2028349" y="3495198"/>
            <a:ext cx="12247007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Second most important at </a:t>
            </a:r>
            <a:r>
              <a:rPr lang="en-US" sz="1350" dirty="0" smtClean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10</a:t>
            </a:r>
            <a:r>
              <a:rPr lang="en-US" sz="1350" dirty="0" smtClean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%.</a:t>
            </a:r>
            <a:endParaRPr lang="en-US" sz="13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824" y="4349472"/>
            <a:ext cx="882729" cy="141243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028349" y="4525922"/>
            <a:ext cx="2206943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 smtClean="0">
                <a:solidFill>
                  <a:srgbClr val="2C3249"/>
                </a:solidFill>
                <a:latin typeface="Kanit Light" pitchFamily="34" charset="0"/>
                <a:cs typeface="Kanit Light" pitchFamily="34" charset="-120"/>
              </a:rPr>
              <a:t>Income</a:t>
            </a:r>
            <a:endParaRPr lang="en-US" sz="1700" dirty="0"/>
          </a:p>
        </p:txBody>
      </p:sp>
      <p:sp>
        <p:nvSpPr>
          <p:cNvPr id="13" name="Text 6"/>
          <p:cNvSpPr/>
          <p:nvPr/>
        </p:nvSpPr>
        <p:spPr>
          <a:xfrm>
            <a:off x="2028349" y="4907637"/>
            <a:ext cx="12247007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 smtClean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Third most important </a:t>
            </a: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contribute </a:t>
            </a: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7</a:t>
            </a:r>
            <a:r>
              <a:rPr lang="en-US" sz="1350" dirty="0" smtClean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%.</a:t>
            </a:r>
            <a:endParaRPr lang="en-US" sz="135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797" y="610584"/>
            <a:ext cx="7631559" cy="51513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969642" y="42951"/>
            <a:ext cx="6542722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360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Model Performance Comparison</a:t>
            </a:r>
            <a:endParaRPr lang="en-US" sz="3600" b="1" dirty="0"/>
          </a:p>
        </p:txBody>
      </p:sp>
      <p:sp>
        <p:nvSpPr>
          <p:cNvPr id="5" name="Shape 1"/>
          <p:cNvSpPr/>
          <p:nvPr/>
        </p:nvSpPr>
        <p:spPr>
          <a:xfrm>
            <a:off x="864037" y="5562124"/>
            <a:ext cx="4136231" cy="2243138"/>
          </a:xfrm>
          <a:prstGeom prst="roundRect">
            <a:avLst>
              <a:gd name="adj" fmla="val 4623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126093" y="5707379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Best Performer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1126093" y="6302710"/>
            <a:ext cx="361211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 smtClean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XG Boost </a:t>
            </a:r>
            <a:r>
              <a:rPr lang="en-US" sz="1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achieved highest </a:t>
            </a:r>
            <a:r>
              <a:rPr lang="en-US" sz="1900" dirty="0" smtClean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Model Accuracy </a:t>
            </a:r>
            <a:r>
              <a:rPr lang="en-US" sz="1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of </a:t>
            </a:r>
            <a:r>
              <a:rPr lang="en-US" sz="1900" dirty="0" smtClean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74.25</a:t>
            </a:r>
            <a:r>
              <a:rPr lang="en-US" sz="1900" dirty="0" smtClean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%.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5247084" y="5571649"/>
            <a:ext cx="4136231" cy="2243138"/>
          </a:xfrm>
          <a:prstGeom prst="roundRect">
            <a:avLst>
              <a:gd name="adj" fmla="val 4623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509141" y="5707380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Runner-up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5509141" y="6302710"/>
            <a:ext cx="361211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 smtClean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Random Forest achieved second highest model accuracy of 72.95%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9806777" y="5571649"/>
            <a:ext cx="4136231" cy="2243138"/>
          </a:xfrm>
          <a:prstGeom prst="roundRect">
            <a:avLst>
              <a:gd name="adj" fmla="val 4623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068833" y="5710237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 smtClean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Baseline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10068833" y="6302710"/>
            <a:ext cx="361211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US" sz="1900" dirty="0"/>
              <a:t>The lowest-performing model is </a:t>
            </a:r>
            <a:r>
              <a:rPr lang="en-US" sz="1900" b="1" dirty="0"/>
              <a:t>Perceptron</a:t>
            </a:r>
            <a:r>
              <a:rPr lang="en-US" sz="1900" dirty="0"/>
              <a:t> (54.87%), which can be considered as the </a:t>
            </a:r>
            <a:r>
              <a:rPr lang="en-US" sz="1900" dirty="0" smtClean="0"/>
              <a:t>baseline.</a:t>
            </a:r>
            <a:endParaRPr lang="en-US" sz="19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508" y="1141405"/>
            <a:ext cx="8329382" cy="39627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50437" y="894636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Key Findings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6350437" y="2314099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71774" y="2406610"/>
            <a:ext cx="112633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7152680" y="2314099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Best Model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152680" y="2847975"/>
            <a:ext cx="661368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 smtClean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XG Boost outperformed over other </a:t>
            </a:r>
            <a:r>
              <a:rPr lang="en-US" sz="1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models in predicting </a:t>
            </a:r>
            <a:r>
              <a:rPr lang="en-US" sz="1900" dirty="0" smtClean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coupon acceptance.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350437" y="4162544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34388" y="4255056"/>
            <a:ext cx="187404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7152680" y="4162544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Important Factors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152680" y="4696420"/>
            <a:ext cx="661368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 smtClean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Occupation and Coupon </a:t>
            </a:r>
            <a:r>
              <a:rPr lang="en-US" sz="1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significantly </a:t>
            </a:r>
            <a:r>
              <a:rPr lang="en-US" sz="1900" dirty="0" smtClean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influence Coupon acceptance on E-commerce.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350437" y="6010989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32959" y="6103501"/>
            <a:ext cx="190381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7152680" y="6010989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Model Accuracy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152680" y="6544866"/>
            <a:ext cx="661368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Achieved </a:t>
            </a:r>
            <a:r>
              <a:rPr lang="en-US" sz="1900" dirty="0" smtClean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74.25</a:t>
            </a:r>
            <a:r>
              <a:rPr lang="en-US" sz="1900" dirty="0" smtClean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% </a:t>
            </a:r>
            <a:r>
              <a:rPr lang="en-US" sz="1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accuracy in predicting </a:t>
            </a:r>
            <a:r>
              <a:rPr lang="en-US" sz="1900" dirty="0" smtClean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Coupon acceptance.</a:t>
            </a:r>
            <a:endParaRPr lang="en-US" sz="19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812" y="1871000"/>
            <a:ext cx="4695416" cy="46954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2BE79ED5-B673-4608-A083-E9176D65D1A8}"/>
              </a:ext>
            </a:extLst>
          </p:cNvPr>
          <p:cNvSpPr txBox="1"/>
          <p:nvPr/>
        </p:nvSpPr>
        <p:spPr>
          <a:xfrm>
            <a:off x="3761249" y="2394788"/>
            <a:ext cx="69208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600" dirty="0">
                <a:latin typeface="Algerian" panose="04020705040A02060702" pitchFamily="82" charset="0"/>
              </a:rPr>
              <a:t>THANK YOU</a:t>
            </a:r>
            <a:endParaRPr lang="en-IN" sz="9600" dirty="0">
              <a:latin typeface="Algerian" panose="04020705040A02060702" pitchFamily="8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61249" y="4343400"/>
            <a:ext cx="6611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Coupon Acceptance Prediction by Prateek Tripathi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416133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837</TotalTime>
  <Words>688</Words>
  <Application>Microsoft Office PowerPoint</Application>
  <PresentationFormat>Custom</PresentationFormat>
  <Paragraphs>120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Martel Sans</vt:lpstr>
      <vt:lpstr>Gadugi</vt:lpstr>
      <vt:lpstr>Calibri</vt:lpstr>
      <vt:lpstr>Kanit Light</vt:lpstr>
      <vt:lpstr>Algerian</vt:lpstr>
      <vt:lpstr>Georgia</vt:lpstr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36</cp:revision>
  <dcterms:created xsi:type="dcterms:W3CDTF">2024-10-24T13:45:28Z</dcterms:created>
  <dcterms:modified xsi:type="dcterms:W3CDTF">2025-02-10T11:41:39Z</dcterms:modified>
</cp:coreProperties>
</file>